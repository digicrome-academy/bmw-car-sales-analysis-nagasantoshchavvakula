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281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682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06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194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599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36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48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189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268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84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668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3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37354" y="685800"/>
            <a:ext cx="4917926" cy="283465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IN" sz="5700" dirty="0"/>
              <a:t>Sales Performance Optimization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37354" y="3721608"/>
            <a:ext cx="4917926" cy="157276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Final Presentation – Data Science &amp; Business Intelligence Internship Project</a:t>
            </a:r>
            <a:endParaRPr lang="en-IN" dirty="0"/>
          </a:p>
        </p:txBody>
      </p:sp>
      <p:pic>
        <p:nvPicPr>
          <p:cNvPr id="5" name="Picture 4" descr="Metal tubes aligned in an angle">
            <a:extLst>
              <a:ext uri="{FF2B5EF4-FFF2-40B4-BE49-F238E27FC236}">
                <a16:creationId xmlns:a16="http://schemas.microsoft.com/office/drawing/2014/main" id="{82E40945-6E7E-485D-925C-996C329AB9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318" r="31118" b="-1"/>
          <a:stretch>
            <a:fillRect/>
          </a:stretch>
        </p:blipFill>
        <p:spPr>
          <a:xfrm>
            <a:off x="20" y="10"/>
            <a:ext cx="3037334" cy="6857990"/>
          </a:xfrm>
          <a:custGeom>
            <a:avLst/>
            <a:gdLst/>
            <a:ahLst/>
            <a:cxnLst/>
            <a:rect l="l" t="t" r="r" b="b"/>
            <a:pathLst>
              <a:path w="4049806" h="6858000">
                <a:moveTo>
                  <a:pt x="0" y="0"/>
                </a:moveTo>
                <a:lnTo>
                  <a:pt x="4018525" y="0"/>
                </a:lnTo>
                <a:lnTo>
                  <a:pt x="4019816" y="10931"/>
                </a:lnTo>
                <a:cubicBezTo>
                  <a:pt x="4034945" y="94836"/>
                  <a:pt x="4032275" y="179884"/>
                  <a:pt x="4036343" y="264297"/>
                </a:cubicBezTo>
                <a:cubicBezTo>
                  <a:pt x="4041301" y="367652"/>
                  <a:pt x="4035072" y="471135"/>
                  <a:pt x="4032911" y="574617"/>
                </a:cubicBezTo>
                <a:cubicBezTo>
                  <a:pt x="4031004" y="662717"/>
                  <a:pt x="4022232" y="750690"/>
                  <a:pt x="4025029" y="838916"/>
                </a:cubicBezTo>
                <a:cubicBezTo>
                  <a:pt x="4025029" y="841968"/>
                  <a:pt x="4025029" y="845019"/>
                  <a:pt x="4025029" y="848070"/>
                </a:cubicBezTo>
                <a:cubicBezTo>
                  <a:pt x="4017020" y="945068"/>
                  <a:pt x="4017020" y="1042576"/>
                  <a:pt x="4025029" y="1139574"/>
                </a:cubicBezTo>
                <a:cubicBezTo>
                  <a:pt x="4027609" y="1179950"/>
                  <a:pt x="4026885" y="1220466"/>
                  <a:pt x="4022868" y="1260728"/>
                </a:cubicBezTo>
                <a:cubicBezTo>
                  <a:pt x="4019054" y="1311960"/>
                  <a:pt x="4006849" y="1364083"/>
                  <a:pt x="4015621" y="1414934"/>
                </a:cubicBezTo>
                <a:cubicBezTo>
                  <a:pt x="4021367" y="1456784"/>
                  <a:pt x="4024558" y="1498940"/>
                  <a:pt x="4025156" y="1541172"/>
                </a:cubicBezTo>
                <a:cubicBezTo>
                  <a:pt x="4029478" y="1635755"/>
                  <a:pt x="4025283" y="1730847"/>
                  <a:pt x="4023757" y="1825685"/>
                </a:cubicBezTo>
                <a:cubicBezTo>
                  <a:pt x="4021850" y="1936286"/>
                  <a:pt x="4024647" y="2046634"/>
                  <a:pt x="4015748" y="2157235"/>
                </a:cubicBezTo>
                <a:cubicBezTo>
                  <a:pt x="4010790" y="2246581"/>
                  <a:pt x="4010790" y="2336130"/>
                  <a:pt x="4015748" y="2425476"/>
                </a:cubicBezTo>
                <a:cubicBezTo>
                  <a:pt x="4018164" y="2507473"/>
                  <a:pt x="4030495" y="2588454"/>
                  <a:pt x="4028461" y="2671214"/>
                </a:cubicBezTo>
                <a:cubicBezTo>
                  <a:pt x="4026046" y="2767832"/>
                  <a:pt x="4014604" y="2863940"/>
                  <a:pt x="4018164" y="2960685"/>
                </a:cubicBezTo>
                <a:cubicBezTo>
                  <a:pt x="4019816" y="3006832"/>
                  <a:pt x="4019944" y="3052980"/>
                  <a:pt x="4020961" y="3099127"/>
                </a:cubicBezTo>
                <a:cubicBezTo>
                  <a:pt x="4021978" y="3154682"/>
                  <a:pt x="4032021" y="3210110"/>
                  <a:pt x="4026427" y="3265665"/>
                </a:cubicBezTo>
                <a:cubicBezTo>
                  <a:pt x="4017147" y="3358087"/>
                  <a:pt x="3993120" y="3448857"/>
                  <a:pt x="4008121" y="3543567"/>
                </a:cubicBezTo>
                <a:cubicBezTo>
                  <a:pt x="4016384" y="3595690"/>
                  <a:pt x="4025791" y="3647940"/>
                  <a:pt x="4030495" y="3700571"/>
                </a:cubicBezTo>
                <a:cubicBezTo>
                  <a:pt x="4034690" y="3747608"/>
                  <a:pt x="4045369" y="3795408"/>
                  <a:pt x="4037233" y="3842191"/>
                </a:cubicBezTo>
                <a:cubicBezTo>
                  <a:pt x="4030368" y="3882237"/>
                  <a:pt x="4034055" y="3922282"/>
                  <a:pt x="4028715" y="3962327"/>
                </a:cubicBezTo>
                <a:cubicBezTo>
                  <a:pt x="4021723" y="4014831"/>
                  <a:pt x="4017910" y="4068352"/>
                  <a:pt x="4012697" y="4121111"/>
                </a:cubicBezTo>
                <a:cubicBezTo>
                  <a:pt x="4007866" y="4169038"/>
                  <a:pt x="4004307" y="4216838"/>
                  <a:pt x="4017020" y="4261841"/>
                </a:cubicBezTo>
                <a:cubicBezTo>
                  <a:pt x="4048039" y="4375112"/>
                  <a:pt x="4031004" y="4487748"/>
                  <a:pt x="4019308" y="4600257"/>
                </a:cubicBezTo>
                <a:cubicBezTo>
                  <a:pt x="4013587" y="4655049"/>
                  <a:pt x="4005197" y="4712765"/>
                  <a:pt x="4017910" y="4762853"/>
                </a:cubicBezTo>
                <a:cubicBezTo>
                  <a:pt x="4041428" y="4851716"/>
                  <a:pt x="4022995" y="4936764"/>
                  <a:pt x="4012824" y="5021432"/>
                </a:cubicBezTo>
                <a:cubicBezTo>
                  <a:pt x="4002654" y="5106099"/>
                  <a:pt x="4000239" y="5189495"/>
                  <a:pt x="4018037" y="5272637"/>
                </a:cubicBezTo>
                <a:cubicBezTo>
                  <a:pt x="4030495" y="5331116"/>
                  <a:pt x="4030495" y="5390612"/>
                  <a:pt x="4032021" y="5449600"/>
                </a:cubicBezTo>
                <a:cubicBezTo>
                  <a:pt x="4032911" y="5486339"/>
                  <a:pt x="4019308" y="5523842"/>
                  <a:pt x="4010282" y="5560582"/>
                </a:cubicBezTo>
                <a:cubicBezTo>
                  <a:pt x="3994009" y="5626943"/>
                  <a:pt x="3988162" y="5694321"/>
                  <a:pt x="4010282" y="5759029"/>
                </a:cubicBezTo>
                <a:cubicBezTo>
                  <a:pt x="4040793" y="5848655"/>
                  <a:pt x="4058336" y="5938407"/>
                  <a:pt x="4045623" y="6033117"/>
                </a:cubicBezTo>
                <a:cubicBezTo>
                  <a:pt x="4038377" y="6091724"/>
                  <a:pt x="4036597" y="6151347"/>
                  <a:pt x="4025664" y="6209190"/>
                </a:cubicBezTo>
                <a:cubicBezTo>
                  <a:pt x="4007358" y="6304790"/>
                  <a:pt x="4013841" y="6399882"/>
                  <a:pt x="4028461" y="6494211"/>
                </a:cubicBezTo>
                <a:cubicBezTo>
                  <a:pt x="4038542" y="6573081"/>
                  <a:pt x="4039610" y="6652829"/>
                  <a:pt x="4031639" y="6731941"/>
                </a:cubicBezTo>
                <a:lnTo>
                  <a:pt x="4022913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6712957" cy="40377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200" b="1" u="sng" dirty="0"/>
              <a:t>Objective: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200" dirty="0"/>
              <a:t>Build an end-to-end automated data pipeline that transforms raw BMW sales data (2010–2024) into actionable business insights.</a:t>
            </a:r>
          </a:p>
          <a:p>
            <a:pPr marL="0" indent="0">
              <a:buNone/>
            </a:pPr>
            <a:r>
              <a:rPr sz="1200" b="1" u="sng" dirty="0"/>
              <a:t>Tools Used: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200" dirty="0"/>
              <a:t>- Python (Pandas, </a:t>
            </a:r>
            <a:r>
              <a:rPr sz="1200" dirty="0" err="1"/>
              <a:t>SQLAlchemy</a:t>
            </a:r>
            <a:r>
              <a:rPr sz="1200" dirty="0"/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200" dirty="0"/>
              <a:t>- Prefect (Workflow Orchestration)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200" dirty="0"/>
              <a:t>- MySQL (Data Warehouse)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200" dirty="0"/>
              <a:t>- Power BI (Visualization)</a:t>
            </a:r>
          </a:p>
          <a:p>
            <a:pPr marL="0" indent="0">
              <a:buNone/>
            </a:pPr>
            <a:r>
              <a:rPr sz="1200" b="1" u="sng" dirty="0"/>
              <a:t>Goal: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200" dirty="0"/>
              <a:t>Establish a repeatable ETL process and produce a comprehensive BI dashboard identifying key sales drivers.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7051285" cy="42936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200" b="1" u="sng" dirty="0"/>
              <a:t>Phase 1 – Setup: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200" dirty="0"/>
              <a:t>Created Python environment &amp; requirements.txt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200" dirty="0"/>
              <a:t>Designed MySQL schema (</a:t>
            </a:r>
            <a:r>
              <a:rPr sz="1200" dirty="0" err="1"/>
              <a:t>schema.sql</a:t>
            </a:r>
            <a:r>
              <a:rPr sz="1200" dirty="0"/>
              <a:t>)</a:t>
            </a:r>
          </a:p>
          <a:p>
            <a:pPr marL="0" indent="0">
              <a:buNone/>
            </a:pPr>
            <a:r>
              <a:rPr sz="1200" b="1" u="sng" dirty="0"/>
              <a:t>Phase 2 – ETL Pipeline: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200" dirty="0"/>
              <a:t>Extract: Read CSV into Pandas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200" dirty="0"/>
              <a:t>Transform: Sanitize, convert types, handle missing values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200" dirty="0"/>
              <a:t> Load: Store clean data into MySQL using </a:t>
            </a:r>
            <a:r>
              <a:rPr sz="1200" dirty="0" err="1"/>
              <a:t>SQLAlchemy</a:t>
            </a:r>
            <a:endParaRPr sz="1200" dirty="0"/>
          </a:p>
          <a:p>
            <a:pPr>
              <a:buFont typeface="Wingdings" panose="05000000000000000000" pitchFamily="2" charset="2"/>
              <a:buChar char="q"/>
            </a:pPr>
            <a:r>
              <a:rPr sz="1200" dirty="0"/>
              <a:t>Automated with Prefect (extract → transform → load)</a:t>
            </a:r>
          </a:p>
          <a:p>
            <a:pPr marL="0" indent="0">
              <a:buNone/>
            </a:pPr>
            <a:r>
              <a:rPr sz="1200" b="1" u="sng" dirty="0"/>
              <a:t>Phase 3 – Dashboard: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200" dirty="0"/>
              <a:t>Connected Power BI to MySQL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1200" dirty="0"/>
              <a:t>Built KPIs and visual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1. Power BI–MySQL connection issue → Resolved with MySQL Connector/NET installation</a:t>
            </a:r>
          </a:p>
          <a:p>
            <a:r>
              <a:rPr dirty="0"/>
              <a:t>2. Data inconsistencies → Cleaned column names and types</a:t>
            </a:r>
          </a:p>
          <a:p>
            <a:r>
              <a:rPr dirty="0"/>
              <a:t>3. Prefect orchestration errors → Corrected flow dependency links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 sales classifications concentrated in Europe &amp; Asia</a:t>
            </a:r>
          </a:p>
          <a:p>
            <a:r>
              <a:rPr dirty="0"/>
              <a:t>7 Series models outperform in sales volume &amp; price</a:t>
            </a:r>
          </a:p>
          <a:p>
            <a:r>
              <a:rPr dirty="0"/>
              <a:t>Automatic transmission dominates high-performing cars</a:t>
            </a:r>
          </a:p>
          <a:p>
            <a:r>
              <a:rPr dirty="0"/>
              <a:t>Emerging markets show strong growth potential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requirements.txt – Python dependencies</a:t>
            </a:r>
          </a:p>
          <a:p>
            <a:r>
              <a:rPr dirty="0" err="1"/>
              <a:t>schema.sql</a:t>
            </a:r>
            <a:r>
              <a:rPr dirty="0"/>
              <a:t> – MySQL table schema</a:t>
            </a:r>
          </a:p>
          <a:p>
            <a:r>
              <a:rPr dirty="0"/>
              <a:t>etl_flow.py – Prefect ETL pipeline</a:t>
            </a:r>
          </a:p>
          <a:p>
            <a:r>
              <a:rPr lang="en-IN" dirty="0" err="1"/>
              <a:t>bmw_sales_dashboard</a:t>
            </a:r>
            <a:r>
              <a:rPr dirty="0"/>
              <a:t>.</a:t>
            </a:r>
            <a:r>
              <a:rPr dirty="0" err="1"/>
              <a:t>pbix</a:t>
            </a:r>
            <a:r>
              <a:rPr dirty="0"/>
              <a:t> – Interactive dashboard</a:t>
            </a:r>
          </a:p>
          <a:p>
            <a:r>
              <a:rPr dirty="0"/>
              <a:t>Presentation – Summary &amp;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This project successfully demonstrates how an automated data-to-dashboard pipeline streamlines analytics.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It integrates Data Engineering, ETL Automation, and Business Intelligence to deliver:</a:t>
            </a:r>
          </a:p>
          <a:p>
            <a:pPr marL="0" indent="0">
              <a:buNone/>
            </a:pPr>
            <a:r>
              <a:rPr lang="en-US" sz="1600" dirty="0"/>
              <a:t>	- </a:t>
            </a:r>
            <a:r>
              <a:rPr sz="1600" dirty="0"/>
              <a:t>Scalable &amp; reproducible data processing</a:t>
            </a:r>
          </a:p>
          <a:p>
            <a:pPr marL="0" indent="0">
              <a:buNone/>
            </a:pPr>
            <a:r>
              <a:rPr lang="en-US" sz="1600" dirty="0"/>
              <a:t>	-</a:t>
            </a:r>
            <a:r>
              <a:rPr sz="1600" dirty="0"/>
              <a:t> Actionable insights for strategic decisions</a:t>
            </a:r>
          </a:p>
          <a:p>
            <a:pPr marL="0" indent="0">
              <a:buNone/>
            </a:pPr>
            <a:r>
              <a:rPr lang="en-US" sz="1600" dirty="0"/>
              <a:t>	- </a:t>
            </a:r>
            <a:r>
              <a:rPr sz="1600" dirty="0"/>
              <a:t>Real</a:t>
            </a:r>
            <a:r>
              <a:rPr lang="en-US" sz="1600" dirty="0"/>
              <a:t> </a:t>
            </a:r>
            <a:r>
              <a:rPr sz="1600" dirty="0"/>
              <a:t>world demonstration of modern data workflow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19</TotalTime>
  <Words>322</Words>
  <Application>Microsoft Office PowerPoint</Application>
  <PresentationFormat>On-screen Show (4:3)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Gill Sans MT</vt:lpstr>
      <vt:lpstr>Wingdings</vt:lpstr>
      <vt:lpstr>Gallery</vt:lpstr>
      <vt:lpstr>Sales Performance Optimization Pipeline</vt:lpstr>
      <vt:lpstr>Project Overview</vt:lpstr>
      <vt:lpstr>Approach &amp; Methodology</vt:lpstr>
      <vt:lpstr>Challenges Faced</vt:lpstr>
      <vt:lpstr>Key Business Insights</vt:lpstr>
      <vt:lpstr>Final Deliverables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NAGASANTOSH CHANDRASHEKAR CHAVVAKULA</dc:creator>
  <cp:keywords/>
  <dc:description>generated using python-pptx</dc:description>
  <cp:lastModifiedBy>Nagasantosh Chandrashekar Chavvakula</cp:lastModifiedBy>
  <cp:revision>3</cp:revision>
  <dcterms:created xsi:type="dcterms:W3CDTF">2013-01-27T09:14:16Z</dcterms:created>
  <dcterms:modified xsi:type="dcterms:W3CDTF">2025-11-03T18:20:30Z</dcterms:modified>
  <cp:category/>
</cp:coreProperties>
</file>